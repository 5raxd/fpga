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6858000" cx="12192000"/>
  <p:notesSz cx="6858000" cy="9144000"/>
  <p:embeddedFontLst>
    <p:embeddedFont>
      <p:font typeface="Lato"/>
      <p:regular r:id="rId14"/>
      <p:bold r:id="rId15"/>
      <p:italic r:id="rId16"/>
      <p:boldItalic r:id="rId17"/>
    </p:embeddedFont>
    <p:embeddedFont>
      <p:font typeface="Noto Sans"/>
      <p:regular r:id="rId18"/>
      <p:bold r:id="rId19"/>
      <p:italic r:id="rId20"/>
      <p:boldItalic r:id="rId21"/>
    </p:embeddedFont>
    <p:embeddedFont>
      <p:font typeface="Exo 2"/>
      <p:regular r:id="rId22"/>
      <p:bold r:id="rId23"/>
      <p:italic r:id="rId24"/>
      <p:boldItalic r:id="rId25"/>
    </p:embeddedFont>
    <p:embeddedFont>
      <p:font typeface="Nunito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0FYxX/kAU2HquDjbc6XOwjxdWq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NotoSans-italic.fntdata"/><Relationship Id="rId22" Type="http://schemas.openxmlformats.org/officeDocument/2006/relationships/font" Target="fonts/Exo2-regular.fntdata"/><Relationship Id="rId21" Type="http://schemas.openxmlformats.org/officeDocument/2006/relationships/font" Target="fonts/NotoSans-boldItalic.fntdata"/><Relationship Id="rId24" Type="http://schemas.openxmlformats.org/officeDocument/2006/relationships/font" Target="fonts/Exo2-italic.fntdata"/><Relationship Id="rId23" Type="http://schemas.openxmlformats.org/officeDocument/2006/relationships/font" Target="fonts/Exo2-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unitoSans-regular.fntdata"/><Relationship Id="rId25" Type="http://schemas.openxmlformats.org/officeDocument/2006/relationships/font" Target="fonts/Exo2-boldItalic.fntdata"/><Relationship Id="rId28" Type="http://schemas.openxmlformats.org/officeDocument/2006/relationships/font" Target="fonts/NunitoSans-italic.fntdata"/><Relationship Id="rId27" Type="http://schemas.openxmlformats.org/officeDocument/2006/relationships/font" Target="fonts/NunitoSa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NunitoSans-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Lato-bold.fntdata"/><Relationship Id="rId14" Type="http://schemas.openxmlformats.org/officeDocument/2006/relationships/font" Target="fonts/Lato-regular.fntdata"/><Relationship Id="rId17" Type="http://schemas.openxmlformats.org/officeDocument/2006/relationships/font" Target="fonts/Lato-boldItalic.fntdata"/><Relationship Id="rId16" Type="http://schemas.openxmlformats.org/officeDocument/2006/relationships/font" Target="fonts/Lato-italic.fntdata"/><Relationship Id="rId19" Type="http://schemas.openxmlformats.org/officeDocument/2006/relationships/font" Target="fonts/NotoSans-bold.fntdata"/><Relationship Id="rId18" Type="http://schemas.openxmlformats.org/officeDocument/2006/relationships/font" Target="fonts/Noto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3886200" y="0"/>
            <a:ext cx="2971800" cy="458788"/>
          </a:xfrm>
          <a:prstGeom prst="rect">
            <a:avLst/>
          </a:prstGeom>
          <a:noFill/>
          <a:ln>
            <a:noFill/>
          </a:ln>
        </p:spPr>
        <p:txBody>
          <a:bodyPr anchorCtr="0" anchor="t" bIns="45700" lIns="91425" spcFirstLastPara="1" rIns="91425" wrap="square" tIns="45700">
            <a:noAutofit/>
          </a:bodyPr>
          <a:lstStyle>
            <a:lvl1pPr lvl="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1588" y="0"/>
            <a:ext cx="2971800" cy="458788"/>
          </a:xfrm>
          <a:prstGeom prst="rect">
            <a:avLst/>
          </a:prstGeom>
          <a:noFill/>
          <a:ln>
            <a:noFill/>
          </a:ln>
        </p:spPr>
        <p:txBody>
          <a:bodyPr anchorCtr="0" anchor="t" bIns="45700" lIns="91425" spcFirstLastPara="1" rIns="91425" wrap="square" tIns="45700">
            <a:noAutofit/>
          </a:bodyPr>
          <a:lstStyle>
            <a:lvl1pPr lvl="0" marR="0" rtl="1"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3886200" y="8685213"/>
            <a:ext cx="2971800" cy="458787"/>
          </a:xfrm>
          <a:prstGeom prst="rect">
            <a:avLst/>
          </a:prstGeom>
          <a:noFill/>
          <a:ln>
            <a:noFill/>
          </a:ln>
        </p:spPr>
        <p:txBody>
          <a:bodyPr anchorCtr="0" anchor="b" bIns="45700" lIns="91425" spcFirstLastPara="1" rIns="91425" wrap="square" tIns="45700">
            <a:noAutofit/>
          </a:bodyPr>
          <a:lstStyle>
            <a:lvl1pPr lvl="0" marR="0" rtl="1"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marR="0" rtl="1" algn="l">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nandland.com/lesson-12-setup-and-hold-time/"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u="none" strike="noStrike">
                <a:solidFill>
                  <a:srgbClr val="212934"/>
                </a:solidFill>
                <a:highlight>
                  <a:srgbClr val="FFFFFF"/>
                </a:highlight>
                <a:latin typeface="Lato"/>
                <a:ea typeface="Lato"/>
                <a:cs typeface="Lato"/>
                <a:sym typeface="Lato"/>
              </a:rPr>
              <a:t>In the figure, a signal that is asynchronous to the clock is being sampled by the first Flip-Flop. This will create a metastable condition at the output. If you again sample this output, you can now fix your metastable event. </a:t>
            </a:r>
            <a:r>
              <a:rPr b="1" i="0" lang="en-US" u="none" strike="noStrike">
                <a:solidFill>
                  <a:srgbClr val="212934"/>
                </a:solidFill>
                <a:latin typeface="Lato"/>
                <a:ea typeface="Lato"/>
                <a:cs typeface="Lato"/>
                <a:sym typeface="Lato"/>
              </a:rPr>
              <a:t>The output of the second Flip-Flop will be stable</a:t>
            </a:r>
            <a:r>
              <a:rPr b="0" i="0" lang="en-US" u="none" strike="noStrike">
                <a:solidFill>
                  <a:srgbClr val="212934"/>
                </a:solidFill>
                <a:highlight>
                  <a:srgbClr val="FFFFFF"/>
                </a:highlight>
                <a:latin typeface="Lato"/>
                <a:ea typeface="Lato"/>
                <a:cs typeface="Lato"/>
                <a:sym typeface="Lato"/>
              </a:rPr>
              <a:t>.</a:t>
            </a:r>
            <a:endParaRPr/>
          </a:p>
        </p:txBody>
      </p:sp>
      <p:sp>
        <p:nvSpPr>
          <p:cNvPr id="113" name="Google Shape;113;p4: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u="none" strike="noStrike">
                <a:solidFill>
                  <a:srgbClr val="333333"/>
                </a:solidFill>
                <a:highlight>
                  <a:srgbClr val="FFFFFF"/>
                </a:highlight>
                <a:latin typeface="Verdana"/>
                <a:ea typeface="Verdana"/>
                <a:cs typeface="Verdana"/>
                <a:sym typeface="Verdana"/>
              </a:rPr>
              <a:t>To avoid unpredictable behavior related to metastability, ASIC and FPGA designs must properly implement the synchronization logic: synchronizers must be robust to metastability effects and handshaking procotocol logic must ensure that buses are resynchronized only when they are stable.</a:t>
            </a:r>
            <a:endParaRPr/>
          </a:p>
        </p:txBody>
      </p:sp>
      <p:sp>
        <p:nvSpPr>
          <p:cNvPr id="122" name="Google Shape;122;p5: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u="none" strike="noStrike">
                <a:solidFill>
                  <a:srgbClr val="212934"/>
                </a:solidFill>
                <a:highlight>
                  <a:srgbClr val="FFFFFF"/>
                </a:highlight>
                <a:latin typeface="Lato"/>
                <a:ea typeface="Lato"/>
                <a:cs typeface="Lato"/>
                <a:sym typeface="Lato"/>
              </a:rPr>
              <a:t>The slower clock is your source clock domain. The faster clock is your destination clock domain. In the faster clock domain, the first Flip-Flop has a metastable output. The reason this occurs is that when performing this crossing, there will be violations of </a:t>
            </a:r>
            <a:r>
              <a:rPr b="0" i="0" lang="en-US" u="sng" strike="noStrike">
                <a:solidFill>
                  <a:srgbClr val="40A629"/>
                </a:solidFill>
                <a:latin typeface="Lato"/>
                <a:ea typeface="Lato"/>
                <a:cs typeface="Lato"/>
                <a:sym typeface="Lato"/>
                <a:hlinkClick r:id="rId2">
                  <a:extLst>
                    <a:ext uri="{A12FA001-AC4F-418D-AE19-62706E023703}">
                      <ahyp:hlinkClr val="tx"/>
                    </a:ext>
                  </a:extLst>
                </a:hlinkClick>
              </a:rPr>
              <a:t>setup and hold time</a:t>
            </a:r>
            <a:r>
              <a:rPr b="0" i="0" lang="en-US" u="none" strike="noStrike">
                <a:solidFill>
                  <a:srgbClr val="212934"/>
                </a:solidFill>
                <a:highlight>
                  <a:srgbClr val="FFFFFF"/>
                </a:highlight>
                <a:latin typeface="Lato"/>
                <a:ea typeface="Lato"/>
                <a:cs typeface="Lato"/>
                <a:sym typeface="Lato"/>
              </a:rPr>
              <a:t> which are the cause of metastability. We can work around this by simply re-registering or double-flopping the data on in the faster clock domain as shown in the figure above. The output of the second Flip-Flop will be stable and now the data can be used in the faster clock domain.</a:t>
            </a:r>
            <a:endParaRPr/>
          </a:p>
        </p:txBody>
      </p:sp>
      <p:sp>
        <p:nvSpPr>
          <p:cNvPr id="131" name="Google Shape;131;p6: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33"/>
              </a:buClr>
              <a:buSzPts val="1200"/>
              <a:buFont typeface="Verdana"/>
              <a:buNone/>
            </a:pPr>
            <a:r>
              <a:rPr b="0" i="0" lang="en-US" u="none" strike="noStrike">
                <a:solidFill>
                  <a:srgbClr val="333333"/>
                </a:solidFill>
                <a:highlight>
                  <a:srgbClr val="FFFFFF"/>
                </a:highlight>
                <a:latin typeface="Verdana"/>
                <a:ea typeface="Verdana"/>
                <a:cs typeface="Verdana"/>
                <a:sym typeface="Verdana"/>
              </a:rPr>
              <a:t>To avoid unpredictable behavior related to metastability, ASIC and FPGA designs must properly implement the synchronization logic: synchronizers must be robust to metastability effects and handshaking procotocol logic must ensure that buses are resynchronized only when they are stable.</a:t>
            </a:r>
            <a:endParaRPr/>
          </a:p>
          <a:p>
            <a:pPr indent="0" lvl="0" marL="0" rtl="0" algn="l">
              <a:spcBef>
                <a:spcPts val="0"/>
              </a:spcBef>
              <a:spcAft>
                <a:spcPts val="0"/>
              </a:spcAft>
              <a:buNone/>
            </a:pPr>
            <a:r>
              <a:t/>
            </a:r>
            <a:endParaRPr/>
          </a:p>
        </p:txBody>
      </p:sp>
      <p:sp>
        <p:nvSpPr>
          <p:cNvPr id="140" name="Google Shape;140;p7: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0" name="Google Shape;15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l">
              <a:spcBef>
                <a:spcPts val="0"/>
              </a:spcBef>
              <a:spcAft>
                <a:spcPts val="0"/>
              </a:spcAft>
              <a:buNone/>
            </a:pPr>
            <a:r>
              <a:rPr b="1" i="0" lang="en-US" u="none" strike="noStrike">
                <a:solidFill>
                  <a:srgbClr val="6C6F72"/>
                </a:solidFill>
                <a:latin typeface="Nunito Sans"/>
                <a:ea typeface="Nunito Sans"/>
                <a:cs typeface="Nunito Sans"/>
                <a:sym typeface="Nunito Sans"/>
              </a:rPr>
              <a:t>FIFOS</a:t>
            </a:r>
            <a:endParaRPr b="0" i="0" u="none" strike="noStrike">
              <a:solidFill>
                <a:srgbClr val="6C6F72"/>
              </a:solidFill>
              <a:latin typeface="Nunito Sans"/>
              <a:ea typeface="Nunito Sans"/>
              <a:cs typeface="Nunito Sans"/>
              <a:sym typeface="Nunito Sans"/>
            </a:endParaRPr>
          </a:p>
          <a:p>
            <a:pPr indent="0" lvl="0" marL="0" rtl="1" algn="l">
              <a:spcBef>
                <a:spcPts val="0"/>
              </a:spcBef>
              <a:spcAft>
                <a:spcPts val="0"/>
              </a:spcAft>
              <a:buNone/>
            </a:pPr>
            <a:r>
              <a:rPr b="0" i="0" lang="en-US" u="none" strike="noStrike">
                <a:solidFill>
                  <a:srgbClr val="6C6F72"/>
                </a:solidFill>
                <a:latin typeface="Nunito Sans"/>
                <a:ea typeface="Nunito Sans"/>
                <a:cs typeface="Nunito Sans"/>
                <a:sym typeface="Nunito Sans"/>
              </a:rPr>
              <a:t>Asynchronous FIFO can be used to transmit data between two clock domains. Write operation to FIFO will happen in the clock C1 domain. Read operation from FIFO will happen in clock C2 domain. FIFO depth should be taken care based on frequency of the clocks C1 and C2</a:t>
            </a:r>
            <a:endParaRPr/>
          </a:p>
          <a:p>
            <a:pPr indent="0" lvl="0" marL="0" rtl="0" algn="l">
              <a:spcBef>
                <a:spcPts val="0"/>
              </a:spcBef>
              <a:spcAft>
                <a:spcPts val="0"/>
              </a:spcAft>
              <a:buNone/>
            </a:pPr>
            <a:r>
              <a:t/>
            </a:r>
            <a:endParaRPr/>
          </a:p>
        </p:txBody>
      </p:sp>
      <p:sp>
        <p:nvSpPr>
          <p:cNvPr id="151" name="Google Shape;151;p8: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33"/>
              </a:buClr>
              <a:buSzPts val="1200"/>
              <a:buFont typeface="Verdana"/>
              <a:buNone/>
            </a:pPr>
            <a:r>
              <a:rPr b="0" i="0" lang="en-US" u="none" strike="noStrike">
                <a:solidFill>
                  <a:srgbClr val="333333"/>
                </a:solidFill>
                <a:highlight>
                  <a:srgbClr val="FFFFFF"/>
                </a:highlight>
                <a:latin typeface="Verdana"/>
                <a:ea typeface="Verdana"/>
                <a:cs typeface="Verdana"/>
                <a:sym typeface="Verdana"/>
              </a:rPr>
              <a:t>To avoid unpredictable behavior related to metastability, ASIC and FPGA designs must properly implement the synchronization logic: synchronizers must be robust to metastability effects and handshaking procotocol logic must ensure that buses are resynchronized only when they are stable.</a:t>
            </a:r>
            <a:endParaRPr/>
          </a:p>
          <a:p>
            <a:pPr indent="0" lvl="0" marL="0" rtl="0" algn="l">
              <a:spcBef>
                <a:spcPts val="0"/>
              </a:spcBef>
              <a:spcAft>
                <a:spcPts val="0"/>
              </a:spcAft>
              <a:buNone/>
            </a:pPr>
            <a:r>
              <a:t/>
            </a:r>
            <a:endParaRPr/>
          </a:p>
        </p:txBody>
      </p:sp>
      <p:sp>
        <p:nvSpPr>
          <p:cNvPr id="160" name="Google Shape;160;p9:notes"/>
          <p:cNvSpPr txBox="1"/>
          <p:nvPr>
            <p:ph idx="12" type="sldNum"/>
          </p:nvPr>
        </p:nvSpPr>
        <p:spPr>
          <a:xfrm>
            <a:off x="1588" y="8685213"/>
            <a:ext cx="2971800" cy="458787"/>
          </a:xfrm>
          <a:prstGeom prst="rect">
            <a:avLst/>
          </a:prstGeom>
          <a:noFill/>
          <a:ln>
            <a:noFill/>
          </a:ln>
        </p:spPr>
        <p:txBody>
          <a:bodyPr anchorCtr="0" anchor="b"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rgbClr val="00B0F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rtl="1" algn="ctr">
              <a:lnSpc>
                <a:spcPct val="90000"/>
              </a:lnSpc>
              <a:spcBef>
                <a:spcPts val="500"/>
              </a:spcBef>
              <a:spcAft>
                <a:spcPts val="0"/>
              </a:spcAft>
              <a:buClr>
                <a:schemeClr val="dk1"/>
              </a:buClr>
              <a:buSzPts val="1600"/>
              <a:buNone/>
              <a:defRPr sz="1600"/>
            </a:lvl6pPr>
            <a:lvl7pPr lvl="6" rtl="1" algn="ctr">
              <a:lnSpc>
                <a:spcPct val="90000"/>
              </a:lnSpc>
              <a:spcBef>
                <a:spcPts val="500"/>
              </a:spcBef>
              <a:spcAft>
                <a:spcPts val="0"/>
              </a:spcAft>
              <a:buClr>
                <a:schemeClr val="dk1"/>
              </a:buClr>
              <a:buSzPts val="1600"/>
              <a:buNone/>
              <a:defRPr sz="1600"/>
            </a:lvl7pPr>
            <a:lvl8pPr lvl="7" rtl="1" algn="ctr">
              <a:lnSpc>
                <a:spcPct val="90000"/>
              </a:lnSpc>
              <a:spcBef>
                <a:spcPts val="500"/>
              </a:spcBef>
              <a:spcAft>
                <a:spcPts val="0"/>
              </a:spcAft>
              <a:buClr>
                <a:schemeClr val="dk1"/>
              </a:buClr>
              <a:buSzPts val="1600"/>
              <a:buNone/>
              <a:defRPr sz="1600"/>
            </a:lvl8pPr>
            <a:lvl9pPr lvl="8" rtl="1" algn="ctr">
              <a:lnSpc>
                <a:spcPct val="90000"/>
              </a:lnSpc>
              <a:spcBef>
                <a:spcPts val="500"/>
              </a:spcBef>
              <a:spcAft>
                <a:spcPts val="0"/>
              </a:spcAft>
              <a:buClr>
                <a:schemeClr val="dk1"/>
              </a:buClr>
              <a:buSzPts val="1600"/>
              <a:buNone/>
              <a:defRPr sz="1600"/>
            </a:lvl9pPr>
          </a:lstStyle>
          <a:p/>
        </p:txBody>
      </p:sp>
      <p:sp>
        <p:nvSpPr>
          <p:cNvPr id="18" name="Google Shape;18;p1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19" name="Google Shape;1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0" name="Google Shape;20;p11"/>
          <p:cNvSpPr txBox="1"/>
          <p:nvPr>
            <p:ph idx="12" type="sldNum"/>
          </p:nvPr>
        </p:nvSpPr>
        <p:spPr>
          <a:xfrm>
            <a:off x="0" y="6489614"/>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1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B0F0"/>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rtl="1" algn="r">
              <a:lnSpc>
                <a:spcPct val="90000"/>
              </a:lnSpc>
              <a:spcBef>
                <a:spcPts val="500"/>
              </a:spcBef>
              <a:spcAft>
                <a:spcPts val="0"/>
              </a:spcAft>
              <a:buClr>
                <a:srgbClr val="888888"/>
              </a:buClr>
              <a:buSzPts val="1600"/>
              <a:buNone/>
              <a:defRPr sz="1600">
                <a:solidFill>
                  <a:srgbClr val="888888"/>
                </a:solidFill>
              </a:defRPr>
            </a:lvl6pPr>
            <a:lvl7pPr indent="-228600" lvl="6" marL="3200400" rtl="1" algn="r">
              <a:lnSpc>
                <a:spcPct val="90000"/>
              </a:lnSpc>
              <a:spcBef>
                <a:spcPts val="500"/>
              </a:spcBef>
              <a:spcAft>
                <a:spcPts val="0"/>
              </a:spcAft>
              <a:buClr>
                <a:srgbClr val="888888"/>
              </a:buClr>
              <a:buSzPts val="1600"/>
              <a:buNone/>
              <a:defRPr sz="1600">
                <a:solidFill>
                  <a:srgbClr val="888888"/>
                </a:solidFill>
              </a:defRPr>
            </a:lvl7pPr>
            <a:lvl8pPr indent="-228600" lvl="7" marL="3657600" rtl="1" algn="r">
              <a:lnSpc>
                <a:spcPct val="90000"/>
              </a:lnSpc>
              <a:spcBef>
                <a:spcPts val="500"/>
              </a:spcBef>
              <a:spcAft>
                <a:spcPts val="0"/>
              </a:spcAft>
              <a:buClr>
                <a:srgbClr val="888888"/>
              </a:buClr>
              <a:buSzPts val="1600"/>
              <a:buNone/>
              <a:defRPr sz="1600">
                <a:solidFill>
                  <a:srgbClr val="888888"/>
                </a:solidFill>
              </a:defRPr>
            </a:lvl8pPr>
            <a:lvl9pPr indent="-228600" lvl="8" marL="4114800" rtl="1" algn="r">
              <a:lnSpc>
                <a:spcPct val="90000"/>
              </a:lnSpc>
              <a:spcBef>
                <a:spcPts val="500"/>
              </a:spcBef>
              <a:spcAft>
                <a:spcPts val="0"/>
              </a:spcAft>
              <a:buClr>
                <a:srgbClr val="888888"/>
              </a:buClr>
              <a:buSzPts val="1600"/>
              <a:buNone/>
              <a:defRPr sz="1600">
                <a:solidFill>
                  <a:srgbClr val="888888"/>
                </a:solidFill>
              </a:defRPr>
            </a:lvl9pPr>
          </a:lstStyle>
          <a:p/>
        </p:txBody>
      </p:sp>
      <p:sp>
        <p:nvSpPr>
          <p:cNvPr id="24" name="Google Shape;24;p12"/>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26" name="Google Shape;26;p12"/>
          <p:cNvSpPr txBox="1"/>
          <p:nvPr>
            <p:ph idx="12" type="sldNum"/>
          </p:nvPr>
        </p:nvSpPr>
        <p:spPr>
          <a:xfrm>
            <a:off x="0" y="6489614"/>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B0F0"/>
              </a:buClr>
              <a:buSzPts val="4400"/>
              <a:buFont typeface="Calibri"/>
              <a:buNone/>
              <a:defRPr>
                <a:solidFill>
                  <a:srgbClr val="00B0F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vl1pPr>
            <a:lvl2pPr indent="-381000" lvl="1" marL="914400" algn="l">
              <a:lnSpc>
                <a:spcPct val="90000"/>
              </a:lnSpc>
              <a:spcBef>
                <a:spcPts val="500"/>
              </a:spcBef>
              <a:spcAft>
                <a:spcPts val="0"/>
              </a:spcAft>
              <a:buClr>
                <a:schemeClr val="dk1"/>
              </a:buClr>
              <a:buSzPts val="2400"/>
              <a:buChar char="•"/>
              <a:defRPr/>
            </a:lvl2pPr>
            <a:lvl3pPr indent="-355600" lvl="2" marL="1371600" algn="l">
              <a:lnSpc>
                <a:spcPct val="90000"/>
              </a:lnSpc>
              <a:spcBef>
                <a:spcPts val="500"/>
              </a:spcBef>
              <a:spcAft>
                <a:spcPts val="0"/>
              </a:spcAft>
              <a:buClr>
                <a:schemeClr val="dk1"/>
              </a:buClr>
              <a:buSzPts val="20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0" name="Google Shape;30;p13"/>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1" name="Google Shape;3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2" name="Google Shape;32;p13"/>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B0F0"/>
              </a:buClr>
              <a:buSzPts val="4400"/>
              <a:buFont typeface="Calibri"/>
              <a:buNone/>
              <a:defRPr>
                <a:solidFill>
                  <a:srgbClr val="00B0F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6" name="Google Shape;36;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37" name="Google Shape;37;p14"/>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8" name="Google Shape;3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39" name="Google Shape;39;p14"/>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B0F0"/>
              </a:buClr>
              <a:buSzPts val="4400"/>
              <a:buFont typeface="Calibri"/>
              <a:buNone/>
              <a:defRPr>
                <a:solidFill>
                  <a:srgbClr val="00B0F0"/>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43" name="Google Shape;43;p1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4" name="Google Shape;44;p1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rtl="1" algn="r">
              <a:lnSpc>
                <a:spcPct val="90000"/>
              </a:lnSpc>
              <a:spcBef>
                <a:spcPts val="500"/>
              </a:spcBef>
              <a:spcAft>
                <a:spcPts val="0"/>
              </a:spcAft>
              <a:buClr>
                <a:schemeClr val="dk1"/>
              </a:buClr>
              <a:buSzPts val="1600"/>
              <a:buNone/>
              <a:defRPr b="1" sz="1600"/>
            </a:lvl6pPr>
            <a:lvl7pPr indent="-228600" lvl="6" marL="3200400" rtl="1" algn="r">
              <a:lnSpc>
                <a:spcPct val="90000"/>
              </a:lnSpc>
              <a:spcBef>
                <a:spcPts val="500"/>
              </a:spcBef>
              <a:spcAft>
                <a:spcPts val="0"/>
              </a:spcAft>
              <a:buClr>
                <a:schemeClr val="dk1"/>
              </a:buClr>
              <a:buSzPts val="1600"/>
              <a:buNone/>
              <a:defRPr b="1" sz="1600"/>
            </a:lvl7pPr>
            <a:lvl8pPr indent="-228600" lvl="7" marL="3657600" rtl="1" algn="r">
              <a:lnSpc>
                <a:spcPct val="90000"/>
              </a:lnSpc>
              <a:spcBef>
                <a:spcPts val="500"/>
              </a:spcBef>
              <a:spcAft>
                <a:spcPts val="0"/>
              </a:spcAft>
              <a:buClr>
                <a:schemeClr val="dk1"/>
              </a:buClr>
              <a:buSzPts val="1600"/>
              <a:buNone/>
              <a:defRPr b="1" sz="1600"/>
            </a:lvl8pPr>
            <a:lvl9pPr indent="-228600" lvl="8" marL="4114800" rtl="1" algn="r">
              <a:lnSpc>
                <a:spcPct val="90000"/>
              </a:lnSpc>
              <a:spcBef>
                <a:spcPts val="500"/>
              </a:spcBef>
              <a:spcAft>
                <a:spcPts val="0"/>
              </a:spcAft>
              <a:buClr>
                <a:schemeClr val="dk1"/>
              </a:buClr>
              <a:buSzPts val="1600"/>
              <a:buNone/>
              <a:defRPr b="1" sz="1600"/>
            </a:lvl9pPr>
          </a:lstStyle>
          <a:p/>
        </p:txBody>
      </p:sp>
      <p:sp>
        <p:nvSpPr>
          <p:cNvPr id="45" name="Google Shape;45;p1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46" name="Google Shape;46;p15"/>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7" name="Google Shape;47;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48" name="Google Shape;48;p15"/>
          <p:cNvSpPr txBox="1"/>
          <p:nvPr>
            <p:ph idx="12" type="sldNum"/>
          </p:nvPr>
        </p:nvSpPr>
        <p:spPr>
          <a:xfrm>
            <a:off x="0" y="6506090"/>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B0F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6"/>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2" name="Google Shape;5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3" name="Google Shape;53;p16"/>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7"/>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6" name="Google Shape;56;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57" name="Google Shape;57;p17"/>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B0F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1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rtl="1" algn="r">
              <a:lnSpc>
                <a:spcPct val="90000"/>
              </a:lnSpc>
              <a:spcBef>
                <a:spcPts val="500"/>
              </a:spcBef>
              <a:spcAft>
                <a:spcPts val="0"/>
              </a:spcAft>
              <a:buClr>
                <a:schemeClr val="dk1"/>
              </a:buClr>
              <a:buSzPts val="2000"/>
              <a:buChar char="•"/>
              <a:defRPr sz="2000"/>
            </a:lvl6pPr>
            <a:lvl7pPr indent="-355600" lvl="6" marL="3200400" rtl="1" algn="r">
              <a:lnSpc>
                <a:spcPct val="90000"/>
              </a:lnSpc>
              <a:spcBef>
                <a:spcPts val="500"/>
              </a:spcBef>
              <a:spcAft>
                <a:spcPts val="0"/>
              </a:spcAft>
              <a:buClr>
                <a:schemeClr val="dk1"/>
              </a:buClr>
              <a:buSzPts val="2000"/>
              <a:buChar char="•"/>
              <a:defRPr sz="2000"/>
            </a:lvl7pPr>
            <a:lvl8pPr indent="-355600" lvl="7" marL="3657600" rtl="1" algn="r">
              <a:lnSpc>
                <a:spcPct val="90000"/>
              </a:lnSpc>
              <a:spcBef>
                <a:spcPts val="500"/>
              </a:spcBef>
              <a:spcAft>
                <a:spcPts val="0"/>
              </a:spcAft>
              <a:buClr>
                <a:schemeClr val="dk1"/>
              </a:buClr>
              <a:buSzPts val="2000"/>
              <a:buChar char="•"/>
              <a:defRPr sz="2000"/>
            </a:lvl8pPr>
            <a:lvl9pPr indent="-355600" lvl="8" marL="4114800" rtl="1" algn="r">
              <a:lnSpc>
                <a:spcPct val="90000"/>
              </a:lnSpc>
              <a:spcBef>
                <a:spcPts val="500"/>
              </a:spcBef>
              <a:spcAft>
                <a:spcPts val="0"/>
              </a:spcAft>
              <a:buClr>
                <a:schemeClr val="dk1"/>
              </a:buClr>
              <a:buSzPts val="2000"/>
              <a:buChar char="•"/>
              <a:defRPr sz="2000"/>
            </a:lvl9pPr>
          </a:lstStyle>
          <a:p/>
        </p:txBody>
      </p:sp>
      <p:sp>
        <p:nvSpPr>
          <p:cNvPr id="61" name="Google Shape;61;p1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62" name="Google Shape;62;p18"/>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3" name="Google Shape;63;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64" name="Google Shape;64;p18"/>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00B0F0"/>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9"/>
          <p:cNvSpPr/>
          <p:nvPr>
            <p:ph idx="2" type="pic"/>
          </p:nvPr>
        </p:nvSpPr>
        <p:spPr>
          <a:xfrm>
            <a:off x="5183188" y="987425"/>
            <a:ext cx="6172200" cy="4873625"/>
          </a:xfrm>
          <a:prstGeom prst="rect">
            <a:avLst/>
          </a:prstGeom>
          <a:noFill/>
          <a:ln>
            <a:noFill/>
          </a:ln>
        </p:spPr>
      </p:sp>
      <p:sp>
        <p:nvSpPr>
          <p:cNvPr id="68" name="Google Shape;68;p1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rtl="1" algn="r">
              <a:lnSpc>
                <a:spcPct val="90000"/>
              </a:lnSpc>
              <a:spcBef>
                <a:spcPts val="500"/>
              </a:spcBef>
              <a:spcAft>
                <a:spcPts val="0"/>
              </a:spcAft>
              <a:buClr>
                <a:schemeClr val="dk1"/>
              </a:buClr>
              <a:buSzPts val="1000"/>
              <a:buNone/>
              <a:defRPr sz="1000"/>
            </a:lvl6pPr>
            <a:lvl7pPr indent="-228600" lvl="6" marL="3200400" rtl="1" algn="r">
              <a:lnSpc>
                <a:spcPct val="90000"/>
              </a:lnSpc>
              <a:spcBef>
                <a:spcPts val="500"/>
              </a:spcBef>
              <a:spcAft>
                <a:spcPts val="0"/>
              </a:spcAft>
              <a:buClr>
                <a:schemeClr val="dk1"/>
              </a:buClr>
              <a:buSzPts val="1000"/>
              <a:buNone/>
              <a:defRPr sz="1000"/>
            </a:lvl7pPr>
            <a:lvl8pPr indent="-228600" lvl="7" marL="3657600" rtl="1" algn="r">
              <a:lnSpc>
                <a:spcPct val="90000"/>
              </a:lnSpc>
              <a:spcBef>
                <a:spcPts val="500"/>
              </a:spcBef>
              <a:spcAft>
                <a:spcPts val="0"/>
              </a:spcAft>
              <a:buClr>
                <a:schemeClr val="dk1"/>
              </a:buClr>
              <a:buSzPts val="1000"/>
              <a:buNone/>
              <a:defRPr sz="1000"/>
            </a:lvl8pPr>
            <a:lvl9pPr indent="-228600" lvl="8" marL="4114800" rtl="1" algn="r">
              <a:lnSpc>
                <a:spcPct val="90000"/>
              </a:lnSpc>
              <a:spcBef>
                <a:spcPts val="500"/>
              </a:spcBef>
              <a:spcAft>
                <a:spcPts val="0"/>
              </a:spcAft>
              <a:buClr>
                <a:schemeClr val="dk1"/>
              </a:buClr>
              <a:buSzPts val="1000"/>
              <a:buNone/>
              <a:defRPr sz="1000"/>
            </a:lvl9pPr>
          </a:lstStyle>
          <a:p/>
        </p:txBody>
      </p:sp>
      <p:sp>
        <p:nvSpPr>
          <p:cNvPr id="69" name="Google Shape;69;p19"/>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0" name="Google Shape;70;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1" name="Google Shape;71;p19"/>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B0F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75" name="Google Shape;75;p20"/>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6" name="Google Shape;7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77" name="Google Shape;77;p20"/>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00B0F0"/>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rtl="1" algn="r">
              <a:lnSpc>
                <a:spcPct val="90000"/>
              </a:lnSpc>
              <a:spcBef>
                <a:spcPts val="500"/>
              </a:spcBef>
              <a:spcAft>
                <a:spcPts val="0"/>
              </a:spcAft>
              <a:buClr>
                <a:schemeClr val="dk1"/>
              </a:buClr>
              <a:buSzPts val="1800"/>
              <a:buChar char="•"/>
              <a:defRPr/>
            </a:lvl6pPr>
            <a:lvl7pPr indent="-342900" lvl="6" marL="3200400" rtl="1" algn="r">
              <a:lnSpc>
                <a:spcPct val="90000"/>
              </a:lnSpc>
              <a:spcBef>
                <a:spcPts val="500"/>
              </a:spcBef>
              <a:spcAft>
                <a:spcPts val="0"/>
              </a:spcAft>
              <a:buClr>
                <a:schemeClr val="dk1"/>
              </a:buClr>
              <a:buSzPts val="1800"/>
              <a:buChar char="•"/>
              <a:defRPr/>
            </a:lvl7pPr>
            <a:lvl8pPr indent="-342900" lvl="7" marL="3657600" rtl="1" algn="r">
              <a:lnSpc>
                <a:spcPct val="90000"/>
              </a:lnSpc>
              <a:spcBef>
                <a:spcPts val="500"/>
              </a:spcBef>
              <a:spcAft>
                <a:spcPts val="0"/>
              </a:spcAft>
              <a:buClr>
                <a:schemeClr val="dk1"/>
              </a:buClr>
              <a:buSzPts val="1800"/>
              <a:buChar char="•"/>
              <a:defRPr/>
            </a:lvl8pPr>
            <a:lvl9pPr indent="-342900" lvl="8" marL="4114800" rtl="1" algn="r">
              <a:lnSpc>
                <a:spcPct val="90000"/>
              </a:lnSpc>
              <a:spcBef>
                <a:spcPts val="500"/>
              </a:spcBef>
              <a:spcAft>
                <a:spcPts val="0"/>
              </a:spcAft>
              <a:buClr>
                <a:schemeClr val="dk1"/>
              </a:buClr>
              <a:buSzPts val="1800"/>
              <a:buChar char="•"/>
              <a:defRPr/>
            </a:lvl9pPr>
          </a:lstStyle>
          <a:p/>
        </p:txBody>
      </p:sp>
      <p:sp>
        <p:nvSpPr>
          <p:cNvPr id="81" name="Google Shape;81;p21"/>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rtl="1" algn="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82" name="Google Shape;8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rtl="1" algn="ctr">
              <a:spcBef>
                <a:spcPts val="0"/>
              </a:spcBef>
              <a:spcAft>
                <a:spcPts val="0"/>
              </a:spcAft>
              <a:buSzPts val="1400"/>
              <a:buNone/>
              <a:defRPr/>
            </a:lvl1pPr>
            <a:lvl2pPr lvl="1" rtl="1" algn="r">
              <a:spcBef>
                <a:spcPts val="0"/>
              </a:spcBef>
              <a:spcAft>
                <a:spcPts val="0"/>
              </a:spcAft>
              <a:buSzPts val="1400"/>
              <a:buNone/>
              <a:defRPr/>
            </a:lvl2pPr>
            <a:lvl3pPr lvl="2" rtl="1" algn="r">
              <a:spcBef>
                <a:spcPts val="0"/>
              </a:spcBef>
              <a:spcAft>
                <a:spcPts val="0"/>
              </a:spcAft>
              <a:buSzPts val="1400"/>
              <a:buNone/>
              <a:defRPr/>
            </a:lvl3pPr>
            <a:lvl4pPr lvl="3" rtl="1" algn="r">
              <a:spcBef>
                <a:spcPts val="0"/>
              </a:spcBef>
              <a:spcAft>
                <a:spcPts val="0"/>
              </a:spcAft>
              <a:buSzPts val="1400"/>
              <a:buNone/>
              <a:defRPr/>
            </a:lvl4pPr>
            <a:lvl5pPr lvl="4" rtl="1" algn="r">
              <a:spcBef>
                <a:spcPts val="0"/>
              </a:spcBef>
              <a:spcAft>
                <a:spcPts val="0"/>
              </a:spcAft>
              <a:buSzPts val="1400"/>
              <a:buNone/>
              <a:defRPr/>
            </a:lvl5pPr>
            <a:lvl6pPr lvl="5" rtl="1" algn="r">
              <a:spcBef>
                <a:spcPts val="0"/>
              </a:spcBef>
              <a:spcAft>
                <a:spcPts val="0"/>
              </a:spcAft>
              <a:buSzPts val="1400"/>
              <a:buNone/>
              <a:defRPr/>
            </a:lvl6pPr>
            <a:lvl7pPr lvl="6" rtl="1" algn="r">
              <a:spcBef>
                <a:spcPts val="0"/>
              </a:spcBef>
              <a:spcAft>
                <a:spcPts val="0"/>
              </a:spcAft>
              <a:buSzPts val="1400"/>
              <a:buNone/>
              <a:defRPr/>
            </a:lvl7pPr>
            <a:lvl8pPr lvl="7" rtl="1" algn="r">
              <a:spcBef>
                <a:spcPts val="0"/>
              </a:spcBef>
              <a:spcAft>
                <a:spcPts val="0"/>
              </a:spcAft>
              <a:buSzPts val="1400"/>
              <a:buNone/>
              <a:defRPr/>
            </a:lvl8pPr>
            <a:lvl9pPr lvl="8" rtl="1" algn="r">
              <a:spcBef>
                <a:spcPts val="0"/>
              </a:spcBef>
              <a:spcAft>
                <a:spcPts val="0"/>
              </a:spcAft>
              <a:buSzPts val="1400"/>
              <a:buNone/>
              <a:defRPr/>
            </a:lvl9pPr>
          </a:lstStyle>
          <a:p/>
        </p:txBody>
      </p:sp>
      <p:sp>
        <p:nvSpPr>
          <p:cNvPr id="83" name="Google Shape;83;p21"/>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rtl="1" algn="l">
              <a:spcBef>
                <a:spcPts val="0"/>
              </a:spcBef>
              <a:buNone/>
              <a:defRPr/>
            </a:lvl1pPr>
            <a:lvl2pPr indent="0" lvl="1" marL="0" rtl="1" algn="l">
              <a:spcBef>
                <a:spcPts val="0"/>
              </a:spcBef>
              <a:buNone/>
              <a:defRPr/>
            </a:lvl2pPr>
            <a:lvl3pPr indent="0" lvl="2" marL="0" rtl="1" algn="l">
              <a:spcBef>
                <a:spcPts val="0"/>
              </a:spcBef>
              <a:buNone/>
              <a:defRPr/>
            </a:lvl3pPr>
            <a:lvl4pPr indent="0" lvl="3" marL="0" rtl="1" algn="l">
              <a:spcBef>
                <a:spcPts val="0"/>
              </a:spcBef>
              <a:buNone/>
              <a:defRPr/>
            </a:lvl4pPr>
            <a:lvl5pPr indent="0" lvl="4" marL="0" rtl="1" algn="l">
              <a:spcBef>
                <a:spcPts val="0"/>
              </a:spcBef>
              <a:buNone/>
              <a:defRPr/>
            </a:lvl5pPr>
            <a:lvl6pPr indent="0" lvl="5" marL="0" rtl="1" algn="l">
              <a:spcBef>
                <a:spcPts val="0"/>
              </a:spcBef>
              <a:buNone/>
              <a:defRPr/>
            </a:lvl6pPr>
            <a:lvl7pPr indent="0" lvl="6" marL="0" rtl="1" algn="l">
              <a:spcBef>
                <a:spcPts val="0"/>
              </a:spcBef>
              <a:buNone/>
              <a:defRPr/>
            </a:lvl7pPr>
            <a:lvl8pPr indent="0" lvl="7" marL="0" rtl="1" algn="l">
              <a:spcBef>
                <a:spcPts val="0"/>
              </a:spcBef>
              <a:buNone/>
              <a:defRPr/>
            </a:lvl8pPr>
            <a:lvl9pPr indent="0" lvl="8" marL="0" rtl="1" algn="l">
              <a:spcBef>
                <a:spcPts val="0"/>
              </a:spcBef>
              <a:buNone/>
              <a:defRPr/>
            </a:lvl9pPr>
          </a:lstStyle>
          <a:p>
            <a:pPr indent="0" lvl="0" marL="0" rtl="1"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0B0F0"/>
              </a:buClr>
              <a:buSzPts val="4400"/>
              <a:buFont typeface="Calibri"/>
              <a:buNone/>
              <a:defRPr b="0" i="0" sz="4400" u="none" cap="none" strike="noStrike">
                <a:solidFill>
                  <a:srgbClr val="00B0F0"/>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1" algn="r">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0"/>
          <p:cNvSpPr txBox="1"/>
          <p:nvPr>
            <p:ph idx="10" type="dt"/>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lvl="0" marR="0" rtl="1" algn="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1"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1" algn="r">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0"/>
          <p:cNvSpPr txBox="1"/>
          <p:nvPr>
            <p:ph idx="12" type="sldNum"/>
          </p:nvPr>
        </p:nvSpPr>
        <p:spPr>
          <a:xfrm>
            <a:off x="0" y="6492875"/>
            <a:ext cx="2743200" cy="365125"/>
          </a:xfrm>
          <a:prstGeom prst="rect">
            <a:avLst/>
          </a:prstGeom>
          <a:noFill/>
          <a:ln>
            <a:noFill/>
          </a:ln>
        </p:spPr>
        <p:txBody>
          <a:bodyPr anchorCtr="0" anchor="ctr" bIns="45700" lIns="91425" spcFirstLastPara="1" rIns="91425" wrap="square" tIns="45700">
            <a:noAutofit/>
          </a:bodyPr>
          <a:lstStyle>
            <a:lvl1pPr indent="0" lvl="0" marL="0" marR="0" rtl="1" algn="l">
              <a:spcBef>
                <a:spcPts val="0"/>
              </a:spcBef>
              <a:buNone/>
              <a:defRPr b="0" i="0" sz="1200" u="none" cap="none" strike="noStrike">
                <a:solidFill>
                  <a:srgbClr val="888888"/>
                </a:solidFill>
                <a:latin typeface="Calibri"/>
                <a:ea typeface="Calibri"/>
                <a:cs typeface="Calibri"/>
                <a:sym typeface="Calibri"/>
              </a:defRPr>
            </a:lvl1pPr>
            <a:lvl2pPr indent="0" lvl="1" marL="0" marR="0" rtl="1" algn="l">
              <a:spcBef>
                <a:spcPts val="0"/>
              </a:spcBef>
              <a:buNone/>
              <a:defRPr b="0" i="0" sz="1200" u="none" cap="none" strike="noStrike">
                <a:solidFill>
                  <a:srgbClr val="888888"/>
                </a:solidFill>
                <a:latin typeface="Calibri"/>
                <a:ea typeface="Calibri"/>
                <a:cs typeface="Calibri"/>
                <a:sym typeface="Calibri"/>
              </a:defRPr>
            </a:lvl2pPr>
            <a:lvl3pPr indent="0" lvl="2" marL="0" marR="0" rtl="1" algn="l">
              <a:spcBef>
                <a:spcPts val="0"/>
              </a:spcBef>
              <a:buNone/>
              <a:defRPr b="0" i="0" sz="1200" u="none" cap="none" strike="noStrike">
                <a:solidFill>
                  <a:srgbClr val="888888"/>
                </a:solidFill>
                <a:latin typeface="Calibri"/>
                <a:ea typeface="Calibri"/>
                <a:cs typeface="Calibri"/>
                <a:sym typeface="Calibri"/>
              </a:defRPr>
            </a:lvl3pPr>
            <a:lvl4pPr indent="0" lvl="3" marL="0" marR="0" rtl="1" algn="l">
              <a:spcBef>
                <a:spcPts val="0"/>
              </a:spcBef>
              <a:buNone/>
              <a:defRPr b="0" i="0" sz="1200" u="none" cap="none" strike="noStrike">
                <a:solidFill>
                  <a:srgbClr val="888888"/>
                </a:solidFill>
                <a:latin typeface="Calibri"/>
                <a:ea typeface="Calibri"/>
                <a:cs typeface="Calibri"/>
                <a:sym typeface="Calibri"/>
              </a:defRPr>
            </a:lvl4pPr>
            <a:lvl5pPr indent="0" lvl="4" marL="0" marR="0" rtl="1" algn="l">
              <a:spcBef>
                <a:spcPts val="0"/>
              </a:spcBef>
              <a:buNone/>
              <a:defRPr b="0" i="0" sz="1200" u="none" cap="none" strike="noStrike">
                <a:solidFill>
                  <a:srgbClr val="888888"/>
                </a:solidFill>
                <a:latin typeface="Calibri"/>
                <a:ea typeface="Calibri"/>
                <a:cs typeface="Calibri"/>
                <a:sym typeface="Calibri"/>
              </a:defRPr>
            </a:lvl5pPr>
            <a:lvl6pPr indent="0" lvl="5" marL="0" marR="0" rtl="1" algn="l">
              <a:spcBef>
                <a:spcPts val="0"/>
              </a:spcBef>
              <a:buNone/>
              <a:defRPr b="0" i="0" sz="1200" u="none" cap="none" strike="noStrike">
                <a:solidFill>
                  <a:srgbClr val="888888"/>
                </a:solidFill>
                <a:latin typeface="Calibri"/>
                <a:ea typeface="Calibri"/>
                <a:cs typeface="Calibri"/>
                <a:sym typeface="Calibri"/>
              </a:defRPr>
            </a:lvl6pPr>
            <a:lvl7pPr indent="0" lvl="6" marL="0" marR="0" rtl="1" algn="l">
              <a:spcBef>
                <a:spcPts val="0"/>
              </a:spcBef>
              <a:buNone/>
              <a:defRPr b="0" i="0" sz="1200" u="none" cap="none" strike="noStrike">
                <a:solidFill>
                  <a:srgbClr val="888888"/>
                </a:solidFill>
                <a:latin typeface="Calibri"/>
                <a:ea typeface="Calibri"/>
                <a:cs typeface="Calibri"/>
                <a:sym typeface="Calibri"/>
              </a:defRPr>
            </a:lvl7pPr>
            <a:lvl8pPr indent="0" lvl="7" marL="0" marR="0" rtl="1" algn="l">
              <a:spcBef>
                <a:spcPts val="0"/>
              </a:spcBef>
              <a:buNone/>
              <a:defRPr b="0" i="0" sz="1200" u="none" cap="none" strike="noStrike">
                <a:solidFill>
                  <a:srgbClr val="888888"/>
                </a:solidFill>
                <a:latin typeface="Calibri"/>
                <a:ea typeface="Calibri"/>
                <a:cs typeface="Calibri"/>
                <a:sym typeface="Calibri"/>
              </a:defRPr>
            </a:lvl8pPr>
            <a:lvl9pPr indent="0" lvl="8" marL="0" marR="0" rtl="1" algn="l">
              <a:spcBef>
                <a:spcPts val="0"/>
              </a:spcBef>
              <a:buNone/>
              <a:defRPr b="0" i="0" sz="1200" u="none" cap="none" strike="noStrike">
                <a:solidFill>
                  <a:srgbClr val="888888"/>
                </a:solidFill>
                <a:latin typeface="Calibri"/>
                <a:ea typeface="Calibri"/>
                <a:cs typeface="Calibri"/>
                <a:sym typeface="Calibri"/>
              </a:defRPr>
            </a:lvl9pPr>
          </a:lstStyle>
          <a:p>
            <a:pPr indent="0" lvl="0" marL="0" rtl="1"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7.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7.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rgbClr val="00B0F0"/>
              </a:buClr>
              <a:buSzPts val="6000"/>
              <a:buFont typeface="Calibri"/>
              <a:buNone/>
            </a:pPr>
            <a:r>
              <a:rPr b="1" lang="en-US"/>
              <a:t>FPGA Laboratory</a:t>
            </a:r>
            <a:endParaRPr b="1"/>
          </a:p>
        </p:txBody>
      </p:sp>
      <p:sp>
        <p:nvSpPr>
          <p:cNvPr id="89" name="Google Shape;89;p1"/>
          <p:cNvSpPr txBox="1"/>
          <p:nvPr>
            <p:ph idx="1" type="subTitle"/>
          </p:nvPr>
        </p:nvSpPr>
        <p:spPr>
          <a:xfrm>
            <a:off x="1524000" y="4449763"/>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1000"/>
              </a:spcBef>
              <a:spcAft>
                <a:spcPts val="0"/>
              </a:spcAft>
              <a:buClr>
                <a:schemeClr val="dk1"/>
              </a:buClr>
              <a:buSzPts val="2400"/>
              <a:buNone/>
            </a:pPr>
            <a:r>
              <a:rPr lang="en-US"/>
              <a:t>School of Electrical Engineering</a:t>
            </a:r>
            <a:endParaRPr/>
          </a:p>
          <a:p>
            <a:pPr indent="0" lvl="0" marL="0" rtl="0" algn="ctr">
              <a:lnSpc>
                <a:spcPct val="90000"/>
              </a:lnSpc>
              <a:spcBef>
                <a:spcPts val="1000"/>
              </a:spcBef>
              <a:spcAft>
                <a:spcPts val="0"/>
              </a:spcAft>
              <a:buClr>
                <a:schemeClr val="dk1"/>
              </a:buClr>
              <a:buSzPts val="2400"/>
              <a:buNone/>
            </a:pPr>
            <a:r>
              <a:rPr lang="en-US"/>
              <a:t>Faculty of Engineering</a:t>
            </a:r>
            <a:endParaRPr/>
          </a:p>
          <a:p>
            <a:pPr indent="0" lvl="0" marL="0" rtl="0" algn="ctr">
              <a:lnSpc>
                <a:spcPct val="90000"/>
              </a:lnSpc>
              <a:spcBef>
                <a:spcPts val="1000"/>
              </a:spcBef>
              <a:spcAft>
                <a:spcPts val="0"/>
              </a:spcAft>
              <a:buClr>
                <a:schemeClr val="dk1"/>
              </a:buClr>
              <a:buSzPts val="2400"/>
              <a:buNone/>
            </a:pPr>
            <a:r>
              <a:rPr lang="en-US"/>
              <a:t>Tel Aviv University</a:t>
            </a:r>
            <a:endParaRPr/>
          </a:p>
        </p:txBody>
      </p:sp>
      <p:pic>
        <p:nvPicPr>
          <p:cNvPr descr="Home Page" id="90" name="Google Shape;90;p1"/>
          <p:cNvPicPr preferRelativeResize="0"/>
          <p:nvPr/>
        </p:nvPicPr>
        <p:blipFill rotWithShape="1">
          <a:blip r:embed="rId3">
            <a:alphaModFix/>
          </a:blip>
          <a:srcRect b="0" l="0" r="0" t="0"/>
          <a:stretch/>
        </p:blipFill>
        <p:spPr>
          <a:xfrm>
            <a:off x="162037" y="123303"/>
            <a:ext cx="1749890" cy="953022"/>
          </a:xfrm>
          <a:prstGeom prst="rect">
            <a:avLst/>
          </a:prstGeom>
          <a:noFill/>
          <a:ln>
            <a:noFill/>
          </a:ln>
        </p:spPr>
      </p:pic>
      <p:pic>
        <p:nvPicPr>
          <p:cNvPr id="91" name="Google Shape;91;p1"/>
          <p:cNvPicPr preferRelativeResize="0"/>
          <p:nvPr/>
        </p:nvPicPr>
        <p:blipFill rotWithShape="1">
          <a:blip r:embed="rId4">
            <a:alphaModFix/>
          </a:blip>
          <a:srcRect b="0" l="0" r="0" t="0"/>
          <a:stretch/>
        </p:blipFill>
        <p:spPr>
          <a:xfrm>
            <a:off x="10287401" y="99606"/>
            <a:ext cx="1747126" cy="899337"/>
          </a:xfrm>
          <a:prstGeom prst="rect">
            <a:avLst/>
          </a:prstGeom>
          <a:noFill/>
          <a:ln>
            <a:noFill/>
          </a:ln>
        </p:spPr>
      </p:pic>
      <p:sp>
        <p:nvSpPr>
          <p:cNvPr id="92" name="Google Shape;92;p1"/>
          <p:cNvSpPr/>
          <p:nvPr/>
        </p:nvSpPr>
        <p:spPr>
          <a:xfrm>
            <a:off x="0" y="0"/>
            <a:ext cx="12192000" cy="457200"/>
          </a:xfrm>
          <a:prstGeom prst="rect">
            <a:avLst/>
          </a:prstGeom>
          <a:noFill/>
          <a:ln>
            <a:noFill/>
          </a:ln>
        </p:spPr>
        <p:txBody>
          <a:bodyPr anchorCtr="0" anchor="ctr" bIns="45700" lIns="91425" spcFirstLastPara="1" rIns="91425" wrap="square" tIns="45700">
            <a:spAutoFit/>
          </a:bodyPr>
          <a:lstStyle/>
          <a:p>
            <a:pPr indent="0" lvl="0" marL="0" marR="0" rtl="1" algn="r">
              <a:spcBef>
                <a:spcPts val="0"/>
              </a:spcBef>
              <a:spcAft>
                <a:spcPts val="0"/>
              </a:spcAft>
              <a:buNone/>
            </a:pPr>
            <a:r>
              <a:t/>
            </a:r>
            <a:endParaRPr sz="1800">
              <a:solidFill>
                <a:schemeClr val="dk1"/>
              </a:solidFill>
              <a:latin typeface="Calibri"/>
              <a:ea typeface="Calibri"/>
              <a:cs typeface="Calibri"/>
              <a:sym typeface="Calibri"/>
            </a:endParaRPr>
          </a:p>
        </p:txBody>
      </p:sp>
      <p:sp>
        <p:nvSpPr>
          <p:cNvPr id="93" name="Google Shape;93;p1"/>
          <p:cNvSpPr/>
          <p:nvPr/>
        </p:nvSpPr>
        <p:spPr>
          <a:xfrm>
            <a:off x="0" y="1397000"/>
            <a:ext cx="12192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Times New Roman"/>
              <a:buNone/>
            </a:pPr>
            <a:r>
              <a:rPr b="0" i="0" lang="en-US" sz="12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
        <p:nvSpPr>
          <p:cNvPr id="94" name="Google Shape;94;p1"/>
          <p:cNvSpPr txBox="1"/>
          <p:nvPr/>
        </p:nvSpPr>
        <p:spPr>
          <a:xfrm>
            <a:off x="4173557" y="6488668"/>
            <a:ext cx="3844886" cy="369332"/>
          </a:xfrm>
          <a:prstGeom prst="rect">
            <a:avLst/>
          </a:prstGeom>
          <a:noFill/>
          <a:ln>
            <a:noFill/>
          </a:ln>
        </p:spPr>
        <p:txBody>
          <a:bodyPr anchorCtr="0" anchor="t" bIns="45700" lIns="91425" spcFirstLastPara="1" rIns="91425" wrap="square" tIns="45700">
            <a:spAutoFit/>
          </a:bodyPr>
          <a:lstStyle/>
          <a:p>
            <a:pPr indent="0" lvl="0" marL="0" marR="0" rtl="1" algn="r">
              <a:spcBef>
                <a:spcPts val="0"/>
              </a:spcBef>
              <a:spcAft>
                <a:spcPts val="0"/>
              </a:spcAft>
              <a:buNone/>
            </a:pPr>
            <a:r>
              <a:rPr lang="en-US" sz="1800">
                <a:solidFill>
                  <a:srgbClr val="A5A5A5"/>
                </a:solidFill>
                <a:latin typeface="Calibri"/>
                <a:ea typeface="Calibri"/>
                <a:cs typeface="Calibri"/>
                <a:sym typeface="Calibri"/>
              </a:rPr>
              <a:t>Version 1.73 By Kostya Berestizshevsky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
          <p:cNvSpPr txBox="1"/>
          <p:nvPr>
            <p:ph type="title"/>
          </p:nvPr>
        </p:nvSpPr>
        <p:spPr>
          <a:xfrm>
            <a:off x="1048418" y="2132378"/>
            <a:ext cx="10515600" cy="3921041"/>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rgbClr val="00B0F0"/>
              </a:buClr>
              <a:buSzPct val="100000"/>
              <a:buFont typeface="Calibri"/>
              <a:buNone/>
            </a:pPr>
            <a:r>
              <a:rPr lang="en-US"/>
              <a:t>Metastability, Clock Domain Crossing (CDC), Synchronizer</a:t>
            </a:r>
            <a:br>
              <a:rPr lang="en-US"/>
            </a:br>
            <a:br>
              <a:rPr lang="en-US"/>
            </a:br>
            <a:br>
              <a:rPr lang="en-US"/>
            </a:br>
            <a:endParaRPr/>
          </a:p>
        </p:txBody>
      </p:sp>
      <p:sp>
        <p:nvSpPr>
          <p:cNvPr id="100" name="Google Shape;100;p2"/>
          <p:cNvSpPr txBox="1"/>
          <p:nvPr>
            <p:ph idx="12" type="sldNum"/>
          </p:nvPr>
        </p:nvSpPr>
        <p:spPr>
          <a:xfrm>
            <a:off x="0" y="6489614"/>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id="101" name="Google Shape;101;p2"/>
          <p:cNvPicPr preferRelativeResize="0"/>
          <p:nvPr/>
        </p:nvPicPr>
        <p:blipFill rotWithShape="1">
          <a:blip r:embed="rId3">
            <a:alphaModFix/>
          </a:blip>
          <a:srcRect b="0" l="0" r="0" t="0"/>
          <a:stretch/>
        </p:blipFill>
        <p:spPr>
          <a:xfrm>
            <a:off x="9672660" y="3216599"/>
            <a:ext cx="2222500" cy="1752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6000"/>
              <a:buFont typeface="Calibri"/>
              <a:buNone/>
            </a:pPr>
            <a:r>
              <a:rPr lang="en-US" sz="6000"/>
              <a:t>Metastability</a:t>
            </a:r>
            <a:endParaRPr sz="6000"/>
          </a:p>
        </p:txBody>
      </p:sp>
      <p:sp>
        <p:nvSpPr>
          <p:cNvPr id="107" name="Google Shape;10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12934"/>
              </a:buClr>
              <a:buSzPts val="2400"/>
              <a:buNone/>
            </a:pPr>
            <a:r>
              <a:rPr lang="en-US" sz="2400">
                <a:solidFill>
                  <a:srgbClr val="212934"/>
                </a:solidFill>
                <a:latin typeface="Exo 2"/>
                <a:ea typeface="Exo 2"/>
                <a:cs typeface="Exo 2"/>
                <a:sym typeface="Exo 2"/>
              </a:rPr>
              <a:t>What is Metastability?</a:t>
            </a:r>
            <a:endParaRPr/>
          </a:p>
          <a:p>
            <a:pPr indent="0" lvl="0" marL="0" rtl="0" algn="l">
              <a:lnSpc>
                <a:spcPct val="90000"/>
              </a:lnSpc>
              <a:spcBef>
                <a:spcPts val="1000"/>
              </a:spcBef>
              <a:spcAft>
                <a:spcPts val="0"/>
              </a:spcAft>
              <a:buClr>
                <a:schemeClr val="dk1"/>
              </a:buClr>
              <a:buSzPts val="2400"/>
              <a:buNone/>
            </a:pPr>
            <a:r>
              <a:t/>
            </a:r>
            <a:endParaRPr sz="2400">
              <a:solidFill>
                <a:srgbClr val="212934"/>
              </a:solidFill>
              <a:latin typeface="Exo 2"/>
              <a:ea typeface="Exo 2"/>
              <a:cs typeface="Exo 2"/>
              <a:sym typeface="Exo 2"/>
            </a:endParaRPr>
          </a:p>
          <a:p>
            <a:pPr indent="0" lvl="0" marL="0" rtl="0" algn="l">
              <a:lnSpc>
                <a:spcPct val="90000"/>
              </a:lnSpc>
              <a:spcBef>
                <a:spcPts val="1000"/>
              </a:spcBef>
              <a:spcAft>
                <a:spcPts val="0"/>
              </a:spcAft>
              <a:buClr>
                <a:srgbClr val="000000"/>
              </a:buClr>
              <a:buSzPts val="1800"/>
              <a:buNone/>
            </a:pPr>
            <a:r>
              <a:rPr b="0" i="0" lang="en-US" sz="1800" u="none" strike="noStrike">
                <a:solidFill>
                  <a:srgbClr val="000000"/>
                </a:solidFill>
                <a:latin typeface="Arial"/>
                <a:ea typeface="Arial"/>
                <a:cs typeface="Arial"/>
                <a:sym typeface="Arial"/>
              </a:rPr>
              <a:t>Metastability is a condition where a digital circuit is unable to resolve to a stable '0' or '1' state within the time frame required by the system.</a:t>
            </a:r>
            <a:endParaRPr/>
          </a:p>
          <a:p>
            <a:pPr indent="0" lvl="0" marL="0" rtl="0" algn="l">
              <a:lnSpc>
                <a:spcPct val="90000"/>
              </a:lnSpc>
              <a:spcBef>
                <a:spcPts val="1000"/>
              </a:spcBef>
              <a:spcAft>
                <a:spcPts val="0"/>
              </a:spcAft>
              <a:buClr>
                <a:schemeClr val="dk1"/>
              </a:buClr>
              <a:buSzPts val="1800"/>
              <a:buNone/>
            </a:pPr>
            <a:r>
              <a:t/>
            </a:r>
            <a:endParaRPr b="0" i="0" sz="1800" u="none" strike="noStrike">
              <a:solidFill>
                <a:srgbClr val="000000"/>
              </a:solidFill>
              <a:latin typeface="Arial"/>
              <a:ea typeface="Arial"/>
              <a:cs typeface="Arial"/>
              <a:sym typeface="Arial"/>
            </a:endParaRPr>
          </a:p>
          <a:p>
            <a:pPr indent="0" lvl="0" marL="0" rtl="0" algn="l">
              <a:lnSpc>
                <a:spcPct val="90000"/>
              </a:lnSpc>
              <a:spcBef>
                <a:spcPts val="1000"/>
              </a:spcBef>
              <a:spcAft>
                <a:spcPts val="0"/>
              </a:spcAft>
              <a:buClr>
                <a:srgbClr val="212934"/>
              </a:buClr>
              <a:buSzPts val="1800"/>
              <a:buNone/>
            </a:pPr>
            <a:r>
              <a:rPr b="0" i="0" lang="en-US" sz="1800" u="sng" strike="noStrike">
                <a:solidFill>
                  <a:srgbClr val="212934"/>
                </a:solidFill>
                <a:highlight>
                  <a:srgbClr val="FFFFFF"/>
                </a:highlight>
                <a:latin typeface="Lato"/>
                <a:ea typeface="Lato"/>
                <a:cs typeface="Lato"/>
                <a:sym typeface="Lato"/>
              </a:rPr>
              <a:t>Most metastable conditions occur in one of two ways:</a:t>
            </a:r>
            <a:endParaRPr u="sng">
              <a:solidFill>
                <a:srgbClr val="212934"/>
              </a:solidFill>
              <a:latin typeface="Exo 2"/>
              <a:ea typeface="Exo 2"/>
              <a:cs typeface="Exo 2"/>
              <a:sym typeface="Exo 2"/>
            </a:endParaRPr>
          </a:p>
          <a:p>
            <a:pPr indent="-228600" lvl="0" marL="228600" rtl="0" algn="l">
              <a:lnSpc>
                <a:spcPct val="90000"/>
              </a:lnSpc>
              <a:spcBef>
                <a:spcPts val="1000"/>
              </a:spcBef>
              <a:spcAft>
                <a:spcPts val="0"/>
              </a:spcAft>
              <a:buClr>
                <a:srgbClr val="212934"/>
              </a:buClr>
              <a:buSzPts val="1800"/>
              <a:buFont typeface="Calibri"/>
              <a:buAutoNum type="arabicPeriod"/>
            </a:pPr>
            <a:r>
              <a:rPr b="0" i="0" lang="en-US" sz="1800" u="none" strike="noStrike">
                <a:solidFill>
                  <a:srgbClr val="212934"/>
                </a:solidFill>
                <a:latin typeface="Lato"/>
                <a:ea typeface="Lato"/>
                <a:cs typeface="Lato"/>
                <a:sym typeface="Lato"/>
              </a:rPr>
              <a:t>You are sampling a signal external to the FPGA</a:t>
            </a:r>
            <a:endParaRPr/>
          </a:p>
          <a:p>
            <a:pPr indent="-228600" lvl="0" marL="228600" rtl="0" algn="l">
              <a:lnSpc>
                <a:spcPct val="90000"/>
              </a:lnSpc>
              <a:spcBef>
                <a:spcPts val="1000"/>
              </a:spcBef>
              <a:spcAft>
                <a:spcPts val="0"/>
              </a:spcAft>
              <a:buClr>
                <a:srgbClr val="212934"/>
              </a:buClr>
              <a:buSzPts val="1800"/>
              <a:buFont typeface="Calibri"/>
              <a:buAutoNum type="arabicPeriod"/>
            </a:pPr>
            <a:r>
              <a:rPr b="0" i="0" lang="en-US" sz="1800" u="none" strike="noStrike">
                <a:solidFill>
                  <a:srgbClr val="212934"/>
                </a:solidFill>
                <a:latin typeface="Lato"/>
                <a:ea typeface="Lato"/>
                <a:cs typeface="Lato"/>
                <a:sym typeface="Lato"/>
              </a:rPr>
              <a:t>You are crossing clock domain</a:t>
            </a:r>
            <a:endParaRPr/>
          </a:p>
          <a:p>
            <a:pPr indent="0" lvl="0" marL="0" rtl="0" algn="l">
              <a:lnSpc>
                <a:spcPct val="90000"/>
              </a:lnSpc>
              <a:spcBef>
                <a:spcPts val="1000"/>
              </a:spcBef>
              <a:spcAft>
                <a:spcPts val="0"/>
              </a:spcAft>
              <a:buClr>
                <a:schemeClr val="dk1"/>
              </a:buClr>
              <a:buSzPts val="2400"/>
              <a:buNone/>
            </a:pPr>
            <a:r>
              <a:t/>
            </a:r>
            <a:endParaRPr i="0" sz="24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000"/>
              <a:buNone/>
            </a:pPr>
            <a:r>
              <a:t/>
            </a:r>
            <a:endParaRPr i="0" sz="20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800"/>
              <a:buNone/>
            </a:pPr>
            <a:r>
              <a:t/>
            </a:r>
            <a:endParaRPr/>
          </a:p>
        </p:txBody>
      </p:sp>
      <p:sp>
        <p:nvSpPr>
          <p:cNvPr id="108" name="Google Shape;108;p3"/>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id="109" name="Google Shape;109;p3"/>
          <p:cNvPicPr preferRelativeResize="0"/>
          <p:nvPr/>
        </p:nvPicPr>
        <p:blipFill rotWithShape="1">
          <a:blip r:embed="rId3">
            <a:alphaModFix/>
          </a:blip>
          <a:srcRect b="0" l="0" r="0" t="0"/>
          <a:stretch/>
        </p:blipFill>
        <p:spPr>
          <a:xfrm>
            <a:off x="7507706" y="3310317"/>
            <a:ext cx="3416968" cy="318255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6000"/>
              <a:buFont typeface="Calibri"/>
              <a:buNone/>
            </a:pPr>
            <a:r>
              <a:rPr lang="en-US" sz="6000"/>
              <a:t>Metastability - How to Prevent </a:t>
            </a:r>
            <a:endParaRPr sz="6000"/>
          </a:p>
        </p:txBody>
      </p:sp>
      <p:sp>
        <p:nvSpPr>
          <p:cNvPr id="116" name="Google Shape;116;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00"/>
              </a:buClr>
              <a:buSzPts val="2000"/>
              <a:buNone/>
            </a:pPr>
            <a:r>
              <a:rPr b="0" i="0" lang="en-US" sz="2000" u="none" strike="noStrike">
                <a:solidFill>
                  <a:srgbClr val="000000"/>
                </a:solidFill>
                <a:latin typeface="Arial"/>
                <a:ea typeface="Arial"/>
                <a:cs typeface="Arial"/>
                <a:sym typeface="Arial"/>
              </a:rPr>
              <a:t>Use two flip-flops in series to synchronize asynchronous signals.</a:t>
            </a:r>
            <a:endParaRPr i="0" sz="32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000"/>
              <a:buNone/>
            </a:pPr>
            <a:r>
              <a:t/>
            </a:r>
            <a:endParaRPr i="0" sz="20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800"/>
              <a:buNone/>
            </a:pPr>
            <a:r>
              <a:t/>
            </a:r>
            <a:endParaRPr/>
          </a:p>
        </p:txBody>
      </p:sp>
      <p:sp>
        <p:nvSpPr>
          <p:cNvPr id="117" name="Google Shape;117;p4"/>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id="118" name="Google Shape;118;p4"/>
          <p:cNvPicPr preferRelativeResize="0"/>
          <p:nvPr/>
        </p:nvPicPr>
        <p:blipFill rotWithShape="1">
          <a:blip r:embed="rId3">
            <a:alphaModFix/>
          </a:blip>
          <a:srcRect b="0" l="0" r="0" t="0"/>
          <a:stretch/>
        </p:blipFill>
        <p:spPr>
          <a:xfrm>
            <a:off x="2563178" y="2511592"/>
            <a:ext cx="7487201" cy="297940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6000"/>
              <a:buFont typeface="Calibri"/>
              <a:buNone/>
            </a:pPr>
            <a:r>
              <a:rPr lang="en-US" sz="6000"/>
              <a:t>Crossing Clock Domains</a:t>
            </a:r>
            <a:endParaRPr sz="6000"/>
          </a:p>
        </p:txBody>
      </p:sp>
      <p:sp>
        <p:nvSpPr>
          <p:cNvPr id="125" name="Google Shape;125;p5"/>
          <p:cNvSpPr txBox="1"/>
          <p:nvPr>
            <p:ph idx="1" type="body"/>
          </p:nvPr>
        </p:nvSpPr>
        <p:spPr>
          <a:xfrm>
            <a:off x="838199" y="2141537"/>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Clock Domain Crossing (CDC) refers to the process of transferring data between two different clock domains.</a:t>
            </a:r>
            <a:endParaRPr/>
          </a:p>
          <a:p>
            <a:pPr indent="0" lvl="0" marL="0" rtl="0" algn="l">
              <a:lnSpc>
                <a:spcPct val="90000"/>
              </a:lnSpc>
              <a:spcBef>
                <a:spcPts val="1000"/>
              </a:spcBef>
              <a:spcAft>
                <a:spcPts val="0"/>
              </a:spcAft>
              <a:buClr>
                <a:schemeClr val="dk1"/>
              </a:buClr>
              <a:buSzPts val="2000"/>
              <a:buNone/>
            </a:pPr>
            <a:r>
              <a:rPr lang="en-US" sz="2000"/>
              <a:t>CDC poses significant challenges due to the risk of metastability, which occurs when a signal transitions near the clock edge, causing unpredictable behavior.</a:t>
            </a:r>
            <a:endParaRPr/>
          </a:p>
          <a:p>
            <a:pPr indent="0" lvl="0" marL="0" rtl="0" algn="l">
              <a:lnSpc>
                <a:spcPct val="90000"/>
              </a:lnSpc>
              <a:spcBef>
                <a:spcPts val="1000"/>
              </a:spcBef>
              <a:spcAft>
                <a:spcPts val="0"/>
              </a:spcAft>
              <a:buClr>
                <a:schemeClr val="dk1"/>
              </a:buClr>
              <a:buSzPts val="2400"/>
              <a:buNone/>
            </a:pPr>
            <a:r>
              <a:t/>
            </a:r>
            <a:endParaRPr sz="2400">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3600"/>
              <a:buNone/>
            </a:pPr>
            <a:r>
              <a:t/>
            </a:r>
            <a:endParaRPr i="0" sz="36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800"/>
              <a:buNone/>
            </a:pPr>
            <a:r>
              <a:t/>
            </a:r>
            <a:endParaRPr/>
          </a:p>
        </p:txBody>
      </p:sp>
      <p:sp>
        <p:nvSpPr>
          <p:cNvPr id="126" name="Google Shape;126;p5"/>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descr="Clock Domain Crossing Tools" id="127" name="Google Shape;127;p5"/>
          <p:cNvPicPr preferRelativeResize="0"/>
          <p:nvPr/>
        </p:nvPicPr>
        <p:blipFill rotWithShape="1">
          <a:blip r:embed="rId3">
            <a:alphaModFix/>
          </a:blip>
          <a:srcRect b="0" l="0" r="0" t="0"/>
          <a:stretch/>
        </p:blipFill>
        <p:spPr>
          <a:xfrm>
            <a:off x="3970979" y="4081269"/>
            <a:ext cx="4250039" cy="216156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838199" y="81348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Calibri"/>
              <a:buNone/>
            </a:pPr>
            <a:r>
              <a:rPr lang="en-US" sz="6000"/>
              <a:t>CDC– Slower clock domain to faster clock domain</a:t>
            </a:r>
            <a:br>
              <a:rPr b="1" i="0" lang="en-US" sz="2800" u="none" strike="noStrike">
                <a:solidFill>
                  <a:srgbClr val="212934"/>
                </a:solidFill>
                <a:latin typeface="Noto Sans"/>
                <a:ea typeface="Noto Sans"/>
                <a:cs typeface="Noto Sans"/>
                <a:sym typeface="Noto Sans"/>
              </a:rPr>
            </a:br>
            <a:endParaRPr sz="6000"/>
          </a:p>
        </p:txBody>
      </p:sp>
      <p:sp>
        <p:nvSpPr>
          <p:cNvPr id="134" name="Google Shape;134;p6"/>
          <p:cNvSpPr txBox="1"/>
          <p:nvPr>
            <p:ph idx="1" type="body"/>
          </p:nvPr>
        </p:nvSpPr>
        <p:spPr>
          <a:xfrm>
            <a:off x="838199" y="2141537"/>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“double-flop” the data:</a:t>
            </a:r>
            <a:endParaRPr/>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000"/>
              <a:buNone/>
            </a:pPr>
            <a:r>
              <a:t/>
            </a:r>
            <a:endParaRPr sz="2000"/>
          </a:p>
          <a:p>
            <a:pPr indent="0" lvl="0" marL="0" rtl="0" algn="l">
              <a:lnSpc>
                <a:spcPct val="90000"/>
              </a:lnSpc>
              <a:spcBef>
                <a:spcPts val="1000"/>
              </a:spcBef>
              <a:spcAft>
                <a:spcPts val="0"/>
              </a:spcAft>
              <a:buClr>
                <a:schemeClr val="dk1"/>
              </a:buClr>
              <a:buSzPts val="2400"/>
              <a:buNone/>
            </a:pPr>
            <a:r>
              <a:t/>
            </a:r>
            <a:endParaRPr sz="2400">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3600"/>
              <a:buNone/>
            </a:pPr>
            <a:r>
              <a:t/>
            </a:r>
            <a:endParaRPr i="0" sz="36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800"/>
              <a:buNone/>
            </a:pPr>
            <a:r>
              <a:t/>
            </a:r>
            <a:endParaRPr/>
          </a:p>
        </p:txBody>
      </p:sp>
      <p:sp>
        <p:nvSpPr>
          <p:cNvPr id="135" name="Google Shape;135;p6"/>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id="136" name="Google Shape;136;p6"/>
          <p:cNvPicPr preferRelativeResize="0"/>
          <p:nvPr/>
        </p:nvPicPr>
        <p:blipFill rotWithShape="1">
          <a:blip r:embed="rId3">
            <a:alphaModFix/>
          </a:blip>
          <a:srcRect b="0" l="0" r="0" t="0"/>
          <a:stretch/>
        </p:blipFill>
        <p:spPr>
          <a:xfrm>
            <a:off x="3884528" y="2945606"/>
            <a:ext cx="5626100"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Calibri"/>
              <a:buNone/>
            </a:pPr>
            <a:r>
              <a:rPr lang="en-US" sz="6000"/>
              <a:t>CDC – Faster clock domain to slower clock domain</a:t>
            </a:r>
            <a:endParaRPr sz="6000"/>
          </a:p>
        </p:txBody>
      </p:sp>
      <p:sp>
        <p:nvSpPr>
          <p:cNvPr id="143" name="Google Shape;143;p7"/>
          <p:cNvSpPr txBox="1"/>
          <p:nvPr>
            <p:ph idx="1" type="body"/>
          </p:nvPr>
        </p:nvSpPr>
        <p:spPr>
          <a:xfrm>
            <a:off x="838200" y="1530552"/>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sz="2400">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3600"/>
              <a:buNone/>
            </a:pPr>
            <a:r>
              <a:t/>
            </a:r>
            <a:endParaRPr i="0" sz="36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800"/>
              <a:buNone/>
            </a:pPr>
            <a:r>
              <a:t/>
            </a:r>
            <a:endParaRPr/>
          </a:p>
        </p:txBody>
      </p:sp>
      <p:sp>
        <p:nvSpPr>
          <p:cNvPr id="144" name="Google Shape;144;p7"/>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descr="Clock Domain Crossing Tools" id="145" name="Google Shape;145;p7"/>
          <p:cNvPicPr preferRelativeResize="0"/>
          <p:nvPr/>
        </p:nvPicPr>
        <p:blipFill rotWithShape="1">
          <a:blip r:embed="rId3">
            <a:alphaModFix/>
          </a:blip>
          <a:srcRect b="0" l="0" r="0" t="0"/>
          <a:stretch/>
        </p:blipFill>
        <p:spPr>
          <a:xfrm>
            <a:off x="838200" y="2150972"/>
            <a:ext cx="3611543" cy="1836829"/>
          </a:xfrm>
          <a:prstGeom prst="rect">
            <a:avLst/>
          </a:prstGeom>
          <a:noFill/>
          <a:ln>
            <a:noFill/>
          </a:ln>
        </p:spPr>
      </p:pic>
      <p:pic>
        <p:nvPicPr>
          <p:cNvPr id="146" name="Google Shape;146;p7"/>
          <p:cNvPicPr preferRelativeResize="0"/>
          <p:nvPr/>
        </p:nvPicPr>
        <p:blipFill rotWithShape="1">
          <a:blip r:embed="rId4">
            <a:alphaModFix/>
          </a:blip>
          <a:srcRect b="0" l="0" r="0" t="0"/>
          <a:stretch/>
        </p:blipFill>
        <p:spPr>
          <a:xfrm>
            <a:off x="4747428" y="3938790"/>
            <a:ext cx="6705600" cy="1943100"/>
          </a:xfrm>
          <a:prstGeom prst="rect">
            <a:avLst/>
          </a:prstGeom>
          <a:noFill/>
          <a:ln>
            <a:noFill/>
          </a:ln>
        </p:spPr>
      </p:pic>
      <p:sp>
        <p:nvSpPr>
          <p:cNvPr id="147" name="Google Shape;147;p7"/>
          <p:cNvSpPr txBox="1"/>
          <p:nvPr/>
        </p:nvSpPr>
        <p:spPr>
          <a:xfrm>
            <a:off x="5267310" y="1800351"/>
            <a:ext cx="6136104" cy="1328569"/>
          </a:xfrm>
          <a:prstGeom prst="rect">
            <a:avLst/>
          </a:prstGeom>
          <a:noFill/>
          <a:ln>
            <a:noFill/>
          </a:ln>
        </p:spPr>
        <p:txBody>
          <a:bodyPr anchorCtr="0" anchor="t" bIns="45700" lIns="91425" spcFirstLastPara="1" rIns="91425" wrap="square" tIns="45700">
            <a:spAutoFit/>
          </a:bodyPr>
          <a:lstStyle/>
          <a:p>
            <a:pPr indent="0" lvl="0" marL="0" marR="0" rtl="1"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None/>
            </a:pPr>
            <a:r>
              <a:rPr lang="en-US" sz="2000">
                <a:solidFill>
                  <a:schemeClr val="dk1"/>
                </a:solidFill>
                <a:latin typeface="Calibri"/>
                <a:ea typeface="Calibri"/>
                <a:cs typeface="Calibri"/>
                <a:sym typeface="Calibri"/>
              </a:rPr>
              <a:t>The target clock frequency is lower than the source clock one - some signal event may not be sampled by the destination domain</a:t>
            </a:r>
            <a:endParaRPr sz="20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B0F0"/>
              </a:buClr>
              <a:buSzPct val="100000"/>
              <a:buFont typeface="Calibri"/>
              <a:buNone/>
            </a:pPr>
            <a:r>
              <a:rPr lang="en-US" sz="6000"/>
              <a:t>CDC – Faster clock domain to slower clock domain</a:t>
            </a:r>
            <a:endParaRPr sz="6000"/>
          </a:p>
        </p:txBody>
      </p:sp>
      <p:sp>
        <p:nvSpPr>
          <p:cNvPr id="154" name="Google Shape;154;p8"/>
          <p:cNvSpPr txBox="1"/>
          <p:nvPr>
            <p:ph idx="1" type="body"/>
          </p:nvPr>
        </p:nvSpPr>
        <p:spPr>
          <a:xfrm>
            <a:off x="838200" y="1530552"/>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sz="2400">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3600"/>
              <a:buNone/>
            </a:pPr>
            <a:r>
              <a:t/>
            </a:r>
            <a:endParaRPr i="0" sz="36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800"/>
              <a:buNone/>
            </a:pPr>
            <a:r>
              <a:t/>
            </a:r>
            <a:endParaRPr/>
          </a:p>
        </p:txBody>
      </p:sp>
      <p:sp>
        <p:nvSpPr>
          <p:cNvPr id="155" name="Google Shape;155;p8"/>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id="156" name="Google Shape;156;p8"/>
          <p:cNvPicPr preferRelativeResize="0"/>
          <p:nvPr/>
        </p:nvPicPr>
        <p:blipFill rotWithShape="1">
          <a:blip r:embed="rId3">
            <a:alphaModFix/>
          </a:blip>
          <a:srcRect b="0" l="0" r="0" t="0"/>
          <a:stretch/>
        </p:blipFill>
        <p:spPr>
          <a:xfrm>
            <a:off x="2053722" y="2369325"/>
            <a:ext cx="8503631" cy="325320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B0F0"/>
              </a:buClr>
              <a:buSzPts val="6000"/>
              <a:buFont typeface="Calibri"/>
              <a:buNone/>
            </a:pPr>
            <a:r>
              <a:rPr lang="en-US" sz="6000"/>
              <a:t>Crossing Clock Domains</a:t>
            </a:r>
            <a:endParaRPr sz="6000"/>
          </a:p>
        </p:txBody>
      </p:sp>
      <p:sp>
        <p:nvSpPr>
          <p:cNvPr id="163" name="Google Shape;163;p9"/>
          <p:cNvSpPr txBox="1"/>
          <p:nvPr>
            <p:ph idx="1" type="body"/>
          </p:nvPr>
        </p:nvSpPr>
        <p:spPr>
          <a:xfrm>
            <a:off x="838200" y="1530552"/>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t/>
            </a:r>
            <a:endParaRPr sz="2400">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3600"/>
              <a:buNone/>
            </a:pPr>
            <a:r>
              <a:t/>
            </a:r>
            <a:endParaRPr i="0" sz="3600" u="none" strike="noStrike">
              <a:solidFill>
                <a:srgbClr val="212934"/>
              </a:solidFill>
              <a:latin typeface="Exo 2"/>
              <a:ea typeface="Exo 2"/>
              <a:cs typeface="Exo 2"/>
              <a:sym typeface="Exo 2"/>
            </a:endParaRPr>
          </a:p>
          <a:p>
            <a:pPr indent="0" lvl="0" marL="0" rtl="0" algn="l">
              <a:lnSpc>
                <a:spcPct val="90000"/>
              </a:lnSpc>
              <a:spcBef>
                <a:spcPts val="1000"/>
              </a:spcBef>
              <a:spcAft>
                <a:spcPts val="0"/>
              </a:spcAft>
              <a:buClr>
                <a:schemeClr val="dk1"/>
              </a:buClr>
              <a:buSzPts val="2800"/>
              <a:buNone/>
            </a:pPr>
            <a:r>
              <a:t/>
            </a:r>
            <a:endParaRPr/>
          </a:p>
        </p:txBody>
      </p:sp>
      <p:sp>
        <p:nvSpPr>
          <p:cNvPr id="164" name="Google Shape;164;p9"/>
          <p:cNvSpPr txBox="1"/>
          <p:nvPr>
            <p:ph idx="12" type="sldNum"/>
          </p:nvPr>
        </p:nvSpPr>
        <p:spPr>
          <a:xfrm>
            <a:off x="0" y="6497852"/>
            <a:ext cx="2743200" cy="365125"/>
          </a:xfrm>
          <a:prstGeom prst="rect">
            <a:avLst/>
          </a:prstGeom>
          <a:noFill/>
          <a:ln>
            <a:noFill/>
          </a:ln>
        </p:spPr>
        <p:txBody>
          <a:bodyPr anchorCtr="0" anchor="ctr" bIns="45700" lIns="91425" spcFirstLastPara="1" rIns="91425" wrap="square" tIns="45700">
            <a:noAutofit/>
          </a:bodyPr>
          <a:lstStyle/>
          <a:p>
            <a:pPr indent="0" lvl="0" marL="0" rtl="1" algn="l">
              <a:spcBef>
                <a:spcPts val="0"/>
              </a:spcBef>
              <a:spcAft>
                <a:spcPts val="0"/>
              </a:spcAft>
              <a:buNone/>
            </a:pPr>
            <a:fld id="{00000000-1234-1234-1234-123412341234}" type="slidenum">
              <a:rPr lang="en-US"/>
              <a:t>‹#›</a:t>
            </a:fld>
            <a:endParaRPr/>
          </a:p>
        </p:txBody>
      </p:sp>
      <p:pic>
        <p:nvPicPr>
          <p:cNvPr descr="Clock Domain Crossing Tools" id="165" name="Google Shape;165;p9"/>
          <p:cNvPicPr preferRelativeResize="0"/>
          <p:nvPr/>
        </p:nvPicPr>
        <p:blipFill rotWithShape="1">
          <a:blip r:embed="rId3">
            <a:alphaModFix/>
          </a:blip>
          <a:srcRect b="0" l="0" r="0" t="0"/>
          <a:stretch/>
        </p:blipFill>
        <p:spPr>
          <a:xfrm>
            <a:off x="838200" y="2150972"/>
            <a:ext cx="3611543" cy="1836829"/>
          </a:xfrm>
          <a:prstGeom prst="rect">
            <a:avLst/>
          </a:prstGeom>
          <a:noFill/>
          <a:ln>
            <a:noFill/>
          </a:ln>
        </p:spPr>
      </p:pic>
      <p:pic>
        <p:nvPicPr>
          <p:cNvPr id="166" name="Google Shape;166;p9"/>
          <p:cNvPicPr preferRelativeResize="0"/>
          <p:nvPr/>
        </p:nvPicPr>
        <p:blipFill rotWithShape="1">
          <a:blip r:embed="rId4">
            <a:alphaModFix/>
          </a:blip>
          <a:srcRect b="0" l="0" r="0" t="0"/>
          <a:stretch/>
        </p:blipFill>
        <p:spPr>
          <a:xfrm>
            <a:off x="4747428" y="3938790"/>
            <a:ext cx="6705600" cy="1943100"/>
          </a:xfrm>
          <a:prstGeom prst="rect">
            <a:avLst/>
          </a:prstGeom>
          <a:noFill/>
          <a:ln>
            <a:noFill/>
          </a:ln>
        </p:spPr>
      </p:pic>
      <p:sp>
        <p:nvSpPr>
          <p:cNvPr id="167" name="Google Shape;167;p9"/>
          <p:cNvSpPr txBox="1"/>
          <p:nvPr/>
        </p:nvSpPr>
        <p:spPr>
          <a:xfrm>
            <a:off x="5267310" y="1800351"/>
            <a:ext cx="6136104" cy="1328569"/>
          </a:xfrm>
          <a:prstGeom prst="rect">
            <a:avLst/>
          </a:prstGeom>
          <a:noFill/>
          <a:ln>
            <a:noFill/>
          </a:ln>
        </p:spPr>
        <p:txBody>
          <a:bodyPr anchorCtr="0" anchor="t" bIns="45700" lIns="91425" spcFirstLastPara="1" rIns="91425" wrap="square" tIns="45700">
            <a:spAutoFit/>
          </a:bodyPr>
          <a:lstStyle/>
          <a:p>
            <a:pPr indent="0" lvl="0" marL="0" marR="0" rtl="1"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a:p>
            <a:pPr indent="0" lvl="0" marL="0" marR="0" rtl="0" algn="l">
              <a:lnSpc>
                <a:spcPct val="90000"/>
              </a:lnSpc>
              <a:spcBef>
                <a:spcPts val="1000"/>
              </a:spcBef>
              <a:spcAft>
                <a:spcPts val="0"/>
              </a:spcAft>
              <a:buNone/>
            </a:pPr>
            <a:r>
              <a:rPr lang="en-US" sz="2000">
                <a:solidFill>
                  <a:schemeClr val="dk1"/>
                </a:solidFill>
                <a:latin typeface="Calibri"/>
                <a:ea typeface="Calibri"/>
                <a:cs typeface="Calibri"/>
                <a:sym typeface="Calibri"/>
              </a:rPr>
              <a:t>The target clock frequency is lower than the source clock one - some signal event may not be sampled by the destination domain</a:t>
            </a:r>
            <a:endParaRPr sz="20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2017-04-09T15:11:05Z</dcterms:created>
  <dc:creator>Kostya Berestizhevsky</dc:creator>
</cp:coreProperties>
</file>